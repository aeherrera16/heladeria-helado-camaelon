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6405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4114800" cy="4114800"/>
          </a:xfrm>
          <a:prstGeom prst="ellipse">
            <a:avLst/>
          </a:prstGeom>
          <a:solidFill>
            <a:srgbClr val="845EC2">
              <a:alpha val="15000"/>
            </a:srgbClr>
          </a:solidFill>
          <a:ln w="12700">
            <a:solidFill>
              <a:srgbClr val="845EC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9327" y="2567247"/>
            <a:ext cx="2560320" cy="256032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4763194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r>
              <a:rPr lang="es-ES" dirty="0"/>
              <a:t>UNIVERSIDAD DE LAS FUERZAS ARMADAS – ESPE </a:t>
            </a:r>
            <a:endParaRPr lang="es-EC" dirty="0"/>
          </a:p>
        </p:txBody>
      </p:sp>
      <p:sp>
        <p:nvSpPr>
          <p:cNvPr id="6" name="Text 4"/>
          <p:cNvSpPr/>
          <p:nvPr/>
        </p:nvSpPr>
        <p:spPr>
          <a:xfrm>
            <a:off x="411479" y="502920"/>
            <a:ext cx="58438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KROMA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Helado Camaleón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11480" y="2514600"/>
            <a:ext cx="5029200" cy="36576"/>
          </a:xfrm>
          <a:prstGeom prst="rect">
            <a:avLst/>
          </a:prstGeom>
          <a:solidFill>
            <a:srgbClr val="8B9BB4"/>
          </a:solidFill>
          <a:ln w="12700">
            <a:solidFill>
              <a:srgbClr val="8B9B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63347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Operativo Técnico y Legal — Parte Administrativa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1546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B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"Cada mordida es una nueva sorpresa"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590288"/>
            <a:ext cx="9144000" cy="553212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64515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7E2"/>
                </a:solidFill>
              </a:rPr>
              <a:t>Helado Interactivo con Cambio de Color por Activación de pH (Antocianinas Naturales)</a:t>
            </a:r>
            <a:r>
              <a:rPr lang="en-US" sz="1000" dirty="0">
                <a:solidFill>
                  <a:srgbClr val="8B9BB4"/>
                </a:solidFill>
              </a:rPr>
              <a:t>   |   </a:t>
            </a:r>
            <a:r>
              <a:rPr lang="en-US" sz="1000" b="1" dirty="0">
                <a:solidFill>
                  <a:srgbClr val="00C9A7"/>
                </a:solidFill>
              </a:rPr>
              <a:t>Ecuador  ·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00584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606040" cy="1600200"/>
          </a:xfrm>
          <a:prstGeom prst="rect">
            <a:avLst/>
          </a:prstGeom>
          <a:solidFill>
            <a:srgbClr val="162233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0604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Repotenciación de Marca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2677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eslogan y concepto visual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06040" cy="1600200"/>
          </a:xfrm>
          <a:prstGeom prst="rect">
            <a:avLst/>
          </a:prstGeom>
          <a:solidFill>
            <a:srgbClr val="162233"/>
          </a:solidFill>
          <a:ln w="19050">
            <a:solidFill>
              <a:srgbClr val="845EC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2606040" cy="64008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325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45E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37560" y="18105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Organigrama Estructural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37560" y="22677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Central y personal de apoyo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06040" cy="1600200"/>
          </a:xfrm>
          <a:prstGeom prst="rect">
            <a:avLst/>
          </a:prstGeom>
          <a:solidFill>
            <a:srgbClr val="162233"/>
          </a:solidFill>
          <a:ln w="19050">
            <a:solidFill>
              <a:srgbClr val="FF6F9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188720"/>
            <a:ext cx="2606040" cy="64008"/>
          </a:xfrm>
          <a:prstGeom prst="rec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325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6F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72200" y="18105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y Material POP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72200" y="22677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visual en punto de venta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737360" y="3063240"/>
            <a:ext cx="2606040" cy="1600200"/>
          </a:xfrm>
          <a:prstGeom prst="rect">
            <a:avLst/>
          </a:prstGeom>
          <a:solidFill>
            <a:srgbClr val="162233"/>
          </a:solidFill>
          <a:ln w="19050">
            <a:solidFill>
              <a:srgbClr val="FF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737360" y="3063240"/>
            <a:ext cx="260604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32004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874520" y="368503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Constitución Legal (18 Pasos)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874520" y="41422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formal ante SUPERCIAS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3063240"/>
            <a:ext cx="2606040" cy="1600200"/>
          </a:xfrm>
          <a:prstGeom prst="rect">
            <a:avLst/>
          </a:prstGeom>
          <a:solidFill>
            <a:srgbClr val="162233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3063240"/>
            <a:ext cx="260604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2004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709160" y="368503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Marca y Seguridad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09160" y="41422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SENADI y Llave de Seguridad Industrial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— REPOTENCIACIÓN DE MARCA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</a:rPr>
              <a:t>Identidad corporativa bajo el enfoque Focus Group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2331720"/>
          </a:xfrm>
          <a:prstGeom prst="rect">
            <a:avLst/>
          </a:prstGeom>
          <a:solidFill>
            <a:srgbClr val="162233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344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kern="0" spc="800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KROMA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1005840" y="2286000"/>
            <a:ext cx="2926080" cy="27432"/>
          </a:xfrm>
          <a:prstGeom prst="rect">
            <a:avLst/>
          </a:prstGeom>
          <a:solidFill>
            <a:srgbClr val="8B9BB4"/>
          </a:solidFill>
          <a:ln w="12700">
            <a:solidFill>
              <a:srgbClr val="8B9B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31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0D7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"Cada mordida es una nueva sorpresa"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8163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BB4"/>
                </a:solidFill>
              </a:rPr>
              <a:t>Eslogan Corporativo Oficial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69080" cy="658368"/>
          </a:xfrm>
          <a:prstGeom prst="rect">
            <a:avLst/>
          </a:prstGeom>
          <a:solidFill>
            <a:srgbClr val="162233"/>
          </a:solidFill>
          <a:ln w="1524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280160"/>
            <a:ext cx="475488" cy="47548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40680" y="128016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Recordación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965960"/>
            <a:ext cx="4069080" cy="658368"/>
          </a:xfrm>
          <a:prstGeom prst="rect">
            <a:avLst/>
          </a:prstGeom>
          <a:solidFill>
            <a:srgbClr val="162233"/>
          </a:solidFill>
          <a:ln w="15240">
            <a:solidFill>
              <a:srgbClr val="845EC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057400"/>
            <a:ext cx="475488" cy="475488"/>
          </a:xfrm>
          <a:prstGeom prst="ellipse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40680" y="205740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Viralidad Digital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743200"/>
            <a:ext cx="4069080" cy="658368"/>
          </a:xfrm>
          <a:prstGeom prst="rect">
            <a:avLst/>
          </a:prstGeom>
          <a:solidFill>
            <a:srgbClr val="162233"/>
          </a:solidFill>
          <a:ln w="15240">
            <a:solidFill>
              <a:srgbClr val="FF6F9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834640"/>
            <a:ext cx="475488" cy="475488"/>
          </a:xfrm>
          <a:prstGeom prst="ellipse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834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283464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Visual Cromático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3611880"/>
            <a:ext cx="4069080" cy="1234440"/>
          </a:xfrm>
          <a:prstGeom prst="rect">
            <a:avLst/>
          </a:prstGeom>
          <a:solidFill>
            <a:srgbClr val="162233"/>
          </a:solidFill>
          <a:ln w="10160">
            <a:solidFill>
              <a:srgbClr val="8B9B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6758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</a:rPr>
              <a:t>Concepto Visual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97764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Fusión de un camaleón cromático con texturas fluidas que representan la transición de color al contacto con el activador cítrico natural (limón).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749040"/>
            <a:ext cx="4114800" cy="502920"/>
          </a:xfrm>
          <a:prstGeom prst="rect">
            <a:avLst/>
          </a:prstGeom>
          <a:solidFill>
            <a:srgbClr val="845EC2">
              <a:alpha val="80000"/>
            </a:srgbClr>
          </a:solidFill>
          <a:ln w="12700">
            <a:solidFill>
              <a:srgbClr val="845E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749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Helado interactivo  ·  Activación por pH  ·  Antocianinas Naturales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— ORGANIGRAMA HORIZONTAL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</a:rPr>
              <a:t>Estructura de Comité Central — sin jerarquía piramidal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1051560"/>
            <a:ext cx="2743200" cy="804672"/>
          </a:xfrm>
          <a:prstGeom prst="rect">
            <a:avLst/>
          </a:prstGeom>
          <a:solidFill>
            <a:srgbClr val="00C9A7">
              <a:alpha val="90000"/>
            </a:srgbClr>
          </a:solidFill>
          <a:ln w="2540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CEO — Dirección General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0" y="1399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D1B2A"/>
                </a:solidFill>
              </a:rPr>
              <a:t>Stefania Salgado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856232"/>
            <a:ext cx="0" cy="256032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112264"/>
            <a:ext cx="6949440" cy="0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2112264"/>
            <a:ext cx="0" cy="201168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2313432"/>
            <a:ext cx="1600200" cy="1051560"/>
          </a:xfrm>
          <a:prstGeom prst="rect">
            <a:avLst/>
          </a:prstGeom>
          <a:solidFill>
            <a:srgbClr val="162233"/>
          </a:solidFill>
          <a:ln w="19050">
            <a:solidFill>
              <a:srgbClr val="845EC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313432"/>
            <a:ext cx="1600200" cy="64008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" y="239572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Finanzas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1752" y="2898648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9BB4"/>
                </a:solidFill>
              </a:rPr>
              <a:t>Camila Paredes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807208" y="2112264"/>
            <a:ext cx="0" cy="201168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2313432"/>
            <a:ext cx="1600200" cy="1051560"/>
          </a:xfrm>
          <a:prstGeom prst="rect">
            <a:avLst/>
          </a:prstGeom>
          <a:solidFill>
            <a:srgbClr val="162233"/>
          </a:solidFill>
          <a:ln w="19050">
            <a:solidFill>
              <a:srgbClr val="FF6F9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0" y="2313432"/>
            <a:ext cx="1600200" cy="64008"/>
          </a:xfrm>
          <a:prstGeom prst="rec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84832" y="239572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Jefatura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Mercadeo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084832" y="2898648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9BB4"/>
                </a:solidFill>
              </a:rPr>
              <a:t>Anahy Herrera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90288" y="2112264"/>
            <a:ext cx="0" cy="201168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94760" y="2313432"/>
            <a:ext cx="1600200" cy="1051560"/>
          </a:xfrm>
          <a:prstGeom prst="rect">
            <a:avLst/>
          </a:prstGeom>
          <a:solidFill>
            <a:srgbClr val="162233"/>
          </a:solidFill>
          <a:ln w="19050">
            <a:solidFill>
              <a:srgbClr val="FF6F9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C" dirty="0"/>
          </a:p>
        </p:txBody>
      </p:sp>
      <p:sp>
        <p:nvSpPr>
          <p:cNvPr id="23" name="Shape 21"/>
          <p:cNvSpPr/>
          <p:nvPr/>
        </p:nvSpPr>
        <p:spPr>
          <a:xfrm>
            <a:off x="3794760" y="2313432"/>
            <a:ext cx="1600200" cy="64008"/>
          </a:xfrm>
          <a:prstGeom prst="rec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67912" y="239572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Marketing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67912" y="2898648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9BB4"/>
                </a:solidFill>
              </a:rPr>
              <a:t>Eliana Chamorro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373368" y="2112264"/>
            <a:ext cx="0" cy="201168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0" y="2313432"/>
            <a:ext cx="1600200" cy="1051560"/>
          </a:xfrm>
          <a:prstGeom prst="rect">
            <a:avLst/>
          </a:prstGeom>
          <a:solidFill>
            <a:srgbClr val="162233"/>
          </a:solidFill>
          <a:ln w="19050">
            <a:solidFill>
              <a:srgbClr val="FF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77840" y="2313432"/>
            <a:ext cx="160020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50992" y="239572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Jefatura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Producción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650992" y="2898648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9BB4"/>
                </a:solidFill>
              </a:rPr>
              <a:t>Tatiana Soria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156448" y="2112264"/>
            <a:ext cx="0" cy="201168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60920" y="2313432"/>
            <a:ext cx="1600200" cy="1051560"/>
          </a:xfrm>
          <a:prstGeom prst="rect">
            <a:avLst/>
          </a:prstGeom>
          <a:solidFill>
            <a:srgbClr val="162233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60920" y="2313432"/>
            <a:ext cx="16002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34072" y="239572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Jefatura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Ventas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434072" y="2898648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9BB4"/>
                </a:solidFill>
              </a:rPr>
              <a:t>Kevin Cañola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8600" y="3520440"/>
            <a:ext cx="8686800" cy="274320"/>
          </a:xfrm>
          <a:prstGeom prst="rect">
            <a:avLst/>
          </a:prstGeom>
          <a:solidFill>
            <a:srgbClr val="162233"/>
          </a:solidFill>
          <a:ln w="6350">
            <a:solidFill>
              <a:srgbClr val="8B9BB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35204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8B9BB4"/>
                </a:solidFill>
              </a:rPr>
              <a:t>PERSONAL EXTERNO Y DE APOYO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8600" y="3867912"/>
            <a:ext cx="2011680" cy="960120"/>
          </a:xfrm>
          <a:prstGeom prst="rect">
            <a:avLst/>
          </a:prstGeom>
          <a:solidFill>
            <a:srgbClr val="1B2838"/>
          </a:solidFill>
          <a:ln w="12700">
            <a:solidFill>
              <a:srgbClr val="845EC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931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Abogado Corporativo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BB4"/>
                </a:solidFill>
              </a:rPr>
              <a:t>Outsourcing · minuta constitutiva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423160" y="3867912"/>
            <a:ext cx="2011680" cy="960120"/>
          </a:xfrm>
          <a:prstGeom prst="rect">
            <a:avLst/>
          </a:prstGeom>
          <a:solidFill>
            <a:srgbClr val="1B2838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14600" y="3931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Promotores de Venta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14600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BB4"/>
                </a:solidFill>
              </a:rPr>
              <a:t>Freelance · ferias estacionales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617720" y="3867912"/>
            <a:ext cx="2011680" cy="960120"/>
          </a:xfrm>
          <a:prstGeom prst="rect">
            <a:avLst/>
          </a:prstGeom>
          <a:solidFill>
            <a:srgbClr val="1B2838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3931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Químico / Chef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09160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BB4"/>
                </a:solidFill>
              </a:rPr>
              <a:t>Estabilización antocianinas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812280" y="3867912"/>
            <a:ext cx="2011680" cy="960120"/>
          </a:xfrm>
          <a:prstGeom prst="rect">
            <a:avLst/>
          </a:prstGeom>
          <a:solidFill>
            <a:srgbClr val="1B283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03720" y="3931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 TikTok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03720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BB4"/>
                </a:solidFill>
              </a:rPr>
              <a:t>Gastronomía &amp; estilo de vida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— CREDENCIALES Y MATERIAL POP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</a:rPr>
              <a:t>Formalidad visual en puntos de venta y ferias comerciales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697480" cy="3474720"/>
          </a:xfrm>
          <a:prstGeom prst="rect">
            <a:avLst/>
          </a:prstGeom>
          <a:solidFill>
            <a:srgbClr val="162233"/>
          </a:solidFill>
          <a:ln w="19050">
            <a:solidFill>
              <a:srgbClr val="FF6F9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2697480" cy="73152"/>
          </a:xfrm>
          <a:prstGeom prst="rec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371600"/>
            <a:ext cx="685800" cy="685800"/>
          </a:xfrm>
          <a:prstGeom prst="ellipse">
            <a:avLst/>
          </a:prstGeom>
          <a:solidFill>
            <a:srgbClr val="FF6F91">
              <a:alpha val="80000"/>
            </a:srgbClr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🪪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29768" y="21762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Corporativas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9768" y="2697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Identificaciones físicas con cordón (estilo ESPE). Incluyen logotipo, nombre completo y cargo del integrante.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" y="3931920"/>
            <a:ext cx="2468880" cy="502920"/>
          </a:xfrm>
          <a:prstGeom prst="rect">
            <a:avLst/>
          </a:prstGeom>
          <a:solidFill>
            <a:srgbClr val="FF6F91">
              <a:alpha val="25000"/>
            </a:srgbClr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Formato profesional · Cordón corporativo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46120" y="1188720"/>
            <a:ext cx="2697480" cy="3474720"/>
          </a:xfrm>
          <a:prstGeom prst="rect">
            <a:avLst/>
          </a:prstGeom>
          <a:solidFill>
            <a:srgbClr val="162233"/>
          </a:solidFill>
          <a:ln w="19050">
            <a:solidFill>
              <a:srgbClr val="845EC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188720"/>
            <a:ext cx="2697480" cy="73152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1371600"/>
            <a:ext cx="685800" cy="685800"/>
          </a:xfrm>
          <a:prstGeom prst="ellipse">
            <a:avLst/>
          </a:prstGeom>
          <a:solidFill>
            <a:srgbClr val="845EC2">
              <a:alpha val="80000"/>
            </a:srgbClr>
          </a:solidFill>
          <a:ln w="12700">
            <a:solidFill>
              <a:srgbClr val="845E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55848" y="21762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Stickers Coleccionables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55848" y="2697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Stickers de marca con diseño cromático alusivo al camaleón. Estrategia de fidelización y recordación de marca.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55848" y="3931920"/>
            <a:ext cx="2468880" cy="502920"/>
          </a:xfrm>
          <a:prstGeom prst="rect">
            <a:avLst/>
          </a:prstGeom>
          <a:solidFill>
            <a:srgbClr val="845EC2">
              <a:alpha val="25000"/>
            </a:srgbClr>
          </a:solidFill>
          <a:ln w="12700">
            <a:solidFill>
              <a:srgbClr val="845E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Coleccionables · Alta recordación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72200" y="1188720"/>
            <a:ext cx="2697480" cy="3474720"/>
          </a:xfrm>
          <a:prstGeom prst="rect">
            <a:avLst/>
          </a:prstGeom>
          <a:solidFill>
            <a:srgbClr val="162233"/>
          </a:solidFill>
          <a:ln w="19050">
            <a:solidFill>
              <a:srgbClr val="FF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1188720"/>
            <a:ext cx="269748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78040" y="1371600"/>
            <a:ext cx="685800" cy="685800"/>
          </a:xfrm>
          <a:prstGeom prst="ellipse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🖼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81928" y="21762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Banners Informativos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81928" y="26974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gráfico desplegable para uso en ferias y puntos de venta. Comunica el concepto del producto.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81928" y="3931920"/>
            <a:ext cx="2468880" cy="502920"/>
          </a:xfrm>
          <a:prstGeom prst="rect">
            <a:avLst/>
          </a:prstGeom>
          <a:solidFill>
            <a:srgbClr val="FFD700">
              <a:alpha val="25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81928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Punto de venta · Alta visibilidad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4663440"/>
            <a:ext cx="8549640" cy="34747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663440"/>
            <a:ext cx="8549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★  "Tarjetas Mágicas" — Instrucciones interactivas para activar el cambio de color con limón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— CONSTITUCIÓN LEGAL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</a:rPr>
              <a:t>Flujograma de 18 pasos ante la Superintendencia de Compañías del Ecuador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2834640" cy="3749040"/>
          </a:xfrm>
          <a:prstGeom prst="rect">
            <a:avLst/>
          </a:prstGeom>
          <a:solidFill>
            <a:srgbClr val="162233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97280"/>
            <a:ext cx="2834640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155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Fase 1 · Pasos 1–7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35331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Constitución Inicial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6916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8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homonimia (SUPERCIAS)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13055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8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oficial del nombre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56946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8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jurídico: S.A.S.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300837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8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de capital social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34472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8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 constitutiva (abogado)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38862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8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de integración de capital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43251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8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Escritura pública notarizada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27832" y="1097280"/>
            <a:ext cx="2834640" cy="3749040"/>
          </a:xfrm>
          <a:prstGeom prst="rect">
            <a:avLst/>
          </a:prstGeom>
          <a:solidFill>
            <a:srgbClr val="162233"/>
          </a:solidFill>
          <a:ln w="19050">
            <a:solidFill>
              <a:srgbClr val="845EC2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27832" y="1097280"/>
            <a:ext cx="2834640" cy="502920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1155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Fase 2 · Pasos 8–13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37560" y="135331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Registro e Inscripción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7560" y="16916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45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8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e inspección en SUPERCIAS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37560" y="213055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45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8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Marginación y publicación digital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37560" y="256946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45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8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en prensa física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37560" y="300837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45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8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Inscripción en Registro Mercantil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37560" y="34472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45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8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 y cierre en SUPERCIAS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37560" y="38862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45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8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del RUC (SRI)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99632" y="1097280"/>
            <a:ext cx="2834640" cy="3749040"/>
          </a:xfrm>
          <a:prstGeom prst="rect">
            <a:avLst/>
          </a:prstGeom>
          <a:solidFill>
            <a:srgbClr val="162233"/>
          </a:solidFill>
          <a:ln w="19050">
            <a:solidFill>
              <a:srgbClr val="FF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99632" y="1097280"/>
            <a:ext cx="2834640" cy="5029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1155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Fase 3 · Pasos 14–18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09360" y="135331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Operaciones y Permisos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9360" y="16916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8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 de firmas electrónicas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09360" y="213055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8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corriente + PayPhone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09360" y="256946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8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LUAE y Patente Municipal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09360" y="300837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8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Sanitaria (ARCSA)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09360" y="34472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8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RNE (MIPRO)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— REGISTRO DE MARCA Y SEGURIDAD INDUSTRIAL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</a:rPr>
              <a:t>Protocolo SENADI · Llave de Seguridad · Penalización Punitiva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SENADI — 6 Fases de Registro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35608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35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3898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fonética y gráfica preliminar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911096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11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186537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Internacional de Niza — Clase 30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386584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386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234086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digital y examen de forma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862072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62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28163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en Gaceta Oficial (30 días de oposición)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337560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3291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de fondo y registrabilidad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813048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813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37673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Concesión del Título ® (10 años renovables)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1051560"/>
            <a:ext cx="4069080" cy="1234440"/>
          </a:xfrm>
          <a:prstGeom prst="rect">
            <a:avLst/>
          </a:prstGeom>
          <a:solidFill>
            <a:srgbClr val="162233"/>
          </a:solidFill>
          <a:ln w="19050">
            <a:solidFill>
              <a:srgbClr val="FF6F9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F91"/>
                </a:solidFill>
              </a:rPr>
              <a:t>🔒  LLAVE DE SEGURIDAD INDUSTRIAL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46304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Blindaje legal incorporado en actas constitutivas y NDAs de todo el personal. Activa acciones civiles y penales automáticas ante plagio o copia marcaria sin necesidad de conciliación previa.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2395728"/>
            <a:ext cx="4069080" cy="1170432"/>
          </a:xfrm>
          <a:prstGeom prst="rect">
            <a:avLst/>
          </a:prstGeom>
          <a:solidFill>
            <a:srgbClr val="162233"/>
          </a:solidFill>
          <a:ln w="19050">
            <a:solidFill>
              <a:srgbClr val="845E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4688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45EC2"/>
                </a:solidFill>
              </a:rPr>
              <a:t>🔬  Protocolo de Evidencia Científica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2788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Espectrofotometría y cromatografía con cadena de custodia notarial
• Prueba de reacción cinética al pH documentada en video pericial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3675888"/>
            <a:ext cx="4069080" cy="1188720"/>
          </a:xfrm>
          <a:prstGeom prst="rect">
            <a:avLst/>
          </a:prstGeom>
          <a:solidFill>
            <a:srgbClr val="162233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749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</a:rPr>
              <a:t>⚖️  Penalización Punitiva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4059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7E2"/>
                </a:solidFill>
              </a:rPr>
              <a:t>Multa civil de hasta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83680" y="4023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700"/>
                </a:solidFill>
              </a:rPr>
              <a:t>$1,000,000 USD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92040" y="43708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cautelares: secuestro de maquinaria, decomiso de inventario y clausura provisional. Jurisdicción: Unidades Judiciales de lo Civil, Quito – Pichincha.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845EC2">
              <a:alpha val="12000"/>
            </a:srgbClr>
          </a:solidFill>
          <a:ln w="12700">
            <a:solidFill>
              <a:srgbClr val="845EC2">
                <a:alpha val="1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kern="0" spc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KROMA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Helado Camaleón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926080" y="2359152"/>
            <a:ext cx="3291840" cy="36576"/>
          </a:xfrm>
          <a:prstGeom prst="rect">
            <a:avLst/>
          </a:prstGeom>
          <a:solidFill>
            <a:srgbClr val="8B9BB4"/>
          </a:solidFill>
          <a:ln w="12700">
            <a:solidFill>
              <a:srgbClr val="8B9B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0D7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"Cada mordida es una nueva sorpresa"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2057400" cy="384048"/>
          </a:xfrm>
          <a:prstGeom prst="rect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Marca Registrada ®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80360" y="3108960"/>
            <a:ext cx="2057400" cy="384048"/>
          </a:xfrm>
          <a:prstGeom prst="rect">
            <a:avLst/>
          </a:prstGeom>
          <a:solidFill>
            <a:srgbClr val="845EC2">
              <a:alpha val="75000"/>
            </a:srgbClr>
          </a:solidFill>
          <a:ln w="12700">
            <a:solidFill>
              <a:srgbClr val="845E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31089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S.A.S. Ecuador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394960" y="3108960"/>
            <a:ext cx="2057400" cy="384048"/>
          </a:xfrm>
          <a:prstGeom prst="rect">
            <a:avLst/>
          </a:prstGeom>
          <a:solidFill>
            <a:srgbClr val="FF6F91">
              <a:alpha val="75000"/>
            </a:srgbClr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31089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RUC · ARCSA · LUAE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554480" y="3840480"/>
            <a:ext cx="2057400" cy="384048"/>
          </a:xfrm>
          <a:prstGeom prst="rect">
            <a:avLst/>
          </a:prstGeom>
          <a:solidFill>
            <a:srgbClr val="FFD700">
              <a:alpha val="75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38404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Llave de Seguridad Industrial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69080" y="3840480"/>
            <a:ext cx="2057400" cy="384048"/>
          </a:xfrm>
          <a:prstGeom prst="rect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38404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Antocianinas Naturales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</a:rPr>
              <a:t>Plan Operativo Técnico y Legal — Parte Administrativa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709</Words>
  <Application>Microsoft Office PowerPoint</Application>
  <PresentationFormat>Presentación en pantalla (16:9)</PresentationFormat>
  <Paragraphs>145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Operativo Técnico y Legal - Helado Camaleón</dc:title>
  <dc:subject>PptxGenJS Presentation</dc:subject>
  <dc:creator>PptxGenJS</dc:creator>
  <cp:lastModifiedBy>Stefania Cabezas</cp:lastModifiedBy>
  <cp:revision>2</cp:revision>
  <dcterms:created xsi:type="dcterms:W3CDTF">2026-05-31T17:22:48Z</dcterms:created>
  <dcterms:modified xsi:type="dcterms:W3CDTF">2026-05-31T17:26:39Z</dcterms:modified>
</cp:coreProperties>
</file>